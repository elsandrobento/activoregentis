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29A628-9DB9-8389-B9C4-DD827071BC8E}" name="Ana Regina Victor" initials="AV" userId="S::Ana.Victor@bancobai.ao::5d082690-113e-40be-964c-492ada7ec4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69009-971B-499E-9CCC-8832D3CE42B2}" v="8" dt="2026-06-26T15:49:38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736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Regina Victor" userId="5d082690-113e-40be-964c-492ada7ec420" providerId="ADAL" clId="{A6062BC3-A855-41AE-9B24-5416F5963875}"/>
    <pc:docChg chg="undo custSel modSld">
      <pc:chgData name="Ana Regina Victor" userId="5d082690-113e-40be-964c-492ada7ec420" providerId="ADAL" clId="{A6062BC3-A855-41AE-9B24-5416F5963875}" dt="2026-06-26T15:50:54.674" v="600" actId="1076"/>
      <pc:docMkLst>
        <pc:docMk/>
      </pc:docMkLst>
      <pc:sldChg chg="addSp modSp mod">
        <pc:chgData name="Ana Regina Victor" userId="5d082690-113e-40be-964c-492ada7ec420" providerId="ADAL" clId="{A6062BC3-A855-41AE-9B24-5416F5963875}" dt="2026-06-26T09:38:06.976" v="585" actId="13926"/>
        <pc:sldMkLst>
          <pc:docMk/>
          <pc:sldMk cId="0" sldId="258"/>
        </pc:sldMkLst>
        <pc:spChg chg="mod">
          <ac:chgData name="Ana Regina Victor" userId="5d082690-113e-40be-964c-492ada7ec420" providerId="ADAL" clId="{A6062BC3-A855-41AE-9B24-5416F5963875}" dt="2026-06-26T09:22:06.042" v="2" actId="1392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a Regina Victor" userId="5d082690-113e-40be-964c-492ada7ec420" providerId="ADAL" clId="{A6062BC3-A855-41AE-9B24-5416F5963875}" dt="2026-06-26T09:22:10.169" v="3" actId="1392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a Regina Victor" userId="5d082690-113e-40be-964c-492ada7ec420" providerId="ADAL" clId="{A6062BC3-A855-41AE-9B24-5416F5963875}" dt="2026-06-26T09:38:06.976" v="585" actId="13926"/>
          <ac:spMkLst>
            <pc:docMk/>
            <pc:sldMk cId="0" sldId="258"/>
            <ac:spMk id="13" creationId="{00000000-0000-0000-0000-000000000000}"/>
          </ac:spMkLst>
        </pc:spChg>
        <pc:graphicFrameChg chg="add mod">
          <ac:chgData name="Ana Regina Victor" userId="5d082690-113e-40be-964c-492ada7ec420" providerId="ADAL" clId="{A6062BC3-A855-41AE-9B24-5416F5963875}" dt="2026-06-26T09:31:09.068" v="4"/>
          <ac:graphicFrameMkLst>
            <pc:docMk/>
            <pc:sldMk cId="0" sldId="258"/>
            <ac:graphicFrameMk id="14" creationId="{9B9DAF4E-7A82-1C71-4E30-CC647C2A0F52}"/>
          </ac:graphicFrameMkLst>
        </pc:graphicFrameChg>
        <pc:graphicFrameChg chg="add mod">
          <ac:chgData name="Ana Regina Victor" userId="5d082690-113e-40be-964c-492ada7ec420" providerId="ADAL" clId="{A6062BC3-A855-41AE-9B24-5416F5963875}" dt="2026-06-26T09:31:26.993" v="116"/>
          <ac:graphicFrameMkLst>
            <pc:docMk/>
            <pc:sldMk cId="0" sldId="258"/>
            <ac:graphicFrameMk id="15" creationId="{1FA625A3-B5AC-2062-7A10-730D47E0480F}"/>
          </ac:graphicFrameMkLst>
        </pc:graphicFrameChg>
      </pc:sldChg>
      <pc:sldChg chg="modSp mod">
        <pc:chgData name="Ana Regina Victor" userId="5d082690-113e-40be-964c-492ada7ec420" providerId="ADAL" clId="{A6062BC3-A855-41AE-9B24-5416F5963875}" dt="2026-06-26T15:48:20.987" v="592" actId="13926"/>
        <pc:sldMkLst>
          <pc:docMk/>
          <pc:sldMk cId="0" sldId="259"/>
        </pc:sldMkLst>
        <pc:spChg chg="mod">
          <ac:chgData name="Ana Regina Victor" userId="5d082690-113e-40be-964c-492ada7ec420" providerId="ADAL" clId="{A6062BC3-A855-41AE-9B24-5416F5963875}" dt="2026-06-26T15:48:20.987" v="592" actId="1392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Ana Regina Victor" userId="5d082690-113e-40be-964c-492ada7ec420" providerId="ADAL" clId="{A6062BC3-A855-41AE-9B24-5416F5963875}" dt="2026-06-26T15:49:32.498" v="596"/>
        <pc:sldMkLst>
          <pc:docMk/>
          <pc:sldMk cId="0" sldId="266"/>
        </pc:sldMkLst>
        <pc:spChg chg="mod">
          <ac:chgData name="Ana Regina Victor" userId="5d082690-113e-40be-964c-492ada7ec420" providerId="ADAL" clId="{A6062BC3-A855-41AE-9B24-5416F5963875}" dt="2026-06-26T15:49:26.074" v="595"/>
          <ac:spMkLst>
            <pc:docMk/>
            <pc:sldMk cId="0" sldId="266"/>
            <ac:spMk id="8" creationId="{00000000-0000-0000-0000-000000000000}"/>
          </ac:spMkLst>
        </pc:spChg>
        <pc:spChg chg="mod">
          <ac:chgData name="Ana Regina Victor" userId="5d082690-113e-40be-964c-492ada7ec420" providerId="ADAL" clId="{A6062BC3-A855-41AE-9B24-5416F5963875}" dt="2026-06-26T15:49:32.498" v="596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Ana Regina Victor" userId="5d082690-113e-40be-964c-492ada7ec420" providerId="ADAL" clId="{A6062BC3-A855-41AE-9B24-5416F5963875}" dt="2026-06-26T15:50:38.837" v="599" actId="20577"/>
        <pc:sldMkLst>
          <pc:docMk/>
          <pc:sldMk cId="0" sldId="267"/>
        </pc:sldMkLst>
        <pc:spChg chg="mod">
          <ac:chgData name="Ana Regina Victor" userId="5d082690-113e-40be-964c-492ada7ec420" providerId="ADAL" clId="{A6062BC3-A855-41AE-9B24-5416F5963875}" dt="2026-06-26T15:50:19.439" v="597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Ana Regina Victor" userId="5d082690-113e-40be-964c-492ada7ec420" providerId="ADAL" clId="{A6062BC3-A855-41AE-9B24-5416F5963875}" dt="2026-06-26T15:50:38.837" v="599" actId="20577"/>
          <ac:spMkLst>
            <pc:docMk/>
            <pc:sldMk cId="0" sldId="267"/>
            <ac:spMk id="8" creationId="{00000000-0000-0000-0000-000000000000}"/>
          </ac:spMkLst>
        </pc:spChg>
      </pc:sldChg>
      <pc:sldChg chg="modSp mod">
        <pc:chgData name="Ana Regina Victor" userId="5d082690-113e-40be-964c-492ada7ec420" providerId="ADAL" clId="{A6062BC3-A855-41AE-9B24-5416F5963875}" dt="2026-06-26T15:50:54.674" v="600" actId="1076"/>
        <pc:sldMkLst>
          <pc:docMk/>
          <pc:sldMk cId="0" sldId="268"/>
        </pc:sldMkLst>
        <pc:picChg chg="mod">
          <ac:chgData name="Ana Regina Victor" userId="5d082690-113e-40be-964c-492ada7ec420" providerId="ADAL" clId="{A6062BC3-A855-41AE-9B24-5416F5963875}" dt="2026-06-26T15:50:54.674" v="600" actId="1076"/>
          <ac:picMkLst>
            <pc:docMk/>
            <pc:sldMk cId="0" sldId="268"/>
            <ac:picMk id="3" creationId="{00000000-0000-0000-0000-000000000000}"/>
          </ac:picMkLst>
        </pc:picChg>
      </pc:sldChg>
    </pc:docChg>
  </pc:docChgLst>
</pc:chgInfo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8D63F7-3E61-4ECD-90C8-3EB7BB57B8E3}" authorId="{0029A628-9DB9-8389-B9C4-DD827071BC8E}" created="2026-06-26T15:47:35.533">
    <pc:sldMkLst xmlns:pc="http://schemas.microsoft.com/office/powerpoint/2013/main/command">
      <pc:docMk/>
      <pc:sldMk cId="0" sldId="257"/>
    </pc:sldMkLst>
    <p188:txBody>
      <a:bodyPr/>
      <a:lstStyle/>
      <a:p>
        <a:r>
          <a:rPr lang="pt-PT"/>
          <a:t>Não tem um "boneco" dourado também?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62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AE53-F55C-BAAB-EE8C-01048791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AEAAD-134C-8829-C5C0-860404FB6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9BEF6-78EE-C5AD-3E10-C4BDFFE8C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90F8C-AF9A-0A41-4BE7-5058FAE58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9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_MASTER">
    <p:bg>
      <p:bgPr>
        <a:solidFill>
          <a:srgbClr val="00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822960"/>
            <a:ext cx="457200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Direito  •  Mercado de Capitais  •  Governação Corporativa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Nossa Essência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ActivoRegentis é especializada na interseção de três pilares fundamentais: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0" cy="27432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⚖  Direito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enquadramento legal que assegura a solidez e a legitimidade das operações.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57600" cy="27432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52628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📈  Mercado de Capitais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dinamismo financeiro, investimento e eficiência na alocação de recursos.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3657600" cy="27432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845820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🏛  Governação Corporativa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24231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princípios éticos, a transparência e as melhores práticas de liderança.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Produzimos conteúdos que ajudam profissionais e instituições a tomar decisões mais informadas, estratégicas e sustentáveis.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Significado do Nome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ACTIVO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universo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financiero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>
              <a:lnSpc>
                <a:spcPts val="2800"/>
              </a:lnSpc>
              <a:buNone/>
            </a:pPr>
            <a:endParaRPr lang="en-US" sz="1400" dirty="0">
              <a:solidFill>
                <a:srgbClr val="A0AEC0"/>
              </a:solidFill>
              <a:highlight>
                <a:srgbClr val="00FF00"/>
              </a:highlight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ts val="2800"/>
              </a:lnSpc>
            </a:pP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</a:rPr>
              <a:t>Activos,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</a:rPr>
              <a:t>i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nvestimentos</a:t>
            </a: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capital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400" dirty="0" err="1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Participação</a:t>
            </a: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</a:t>
            </a: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mercado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Dinamismo dos mercados financeiros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&amp;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5029200" cy="347472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858000" y="1325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REGENTIS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1810512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latim "Regens"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</a:t>
            </a:r>
            <a:endParaRPr lang="en-US" sz="1400" dirty="0">
              <a:highlight>
                <a:srgbClr val="00FF00"/>
              </a:highlight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dirige com base em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princípios</a:t>
            </a:r>
            <a:endParaRPr lang="en-US" sz="1400" dirty="0">
              <a:highlight>
                <a:srgbClr val="00FF00"/>
              </a:highlight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400" dirty="0" err="1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dá</a:t>
            </a:r>
            <a:r>
              <a:rPr lang="en-US" sz="14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direcção</a:t>
            </a:r>
            <a:endParaRPr lang="en-US" sz="1400" dirty="0">
              <a:highlight>
                <a:srgbClr val="00FF0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r>
              <a:rPr lang="en-US" sz="1300" i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ActivoRegentis</a:t>
            </a: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</a:t>
            </a:r>
            <a:r>
              <a:rPr lang="en-US" sz="1300" i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</a:t>
            </a: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platafoma</a:t>
            </a: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partilha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conhecimento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Direito, o mercado de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capitais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a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governação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corporativa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orientada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profissionais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instituições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procuram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excelência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clareza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tomada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00" i="1" dirty="0" err="1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</a:t>
            </a:r>
            <a:r>
              <a:rPr lang="en-US" sz="1300" i="1" dirty="0">
                <a:solidFill>
                  <a:srgbClr val="FFFFFF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PROPÓSITO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Nossa Missão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0149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"Promover uma cultura de rigor, integridade e </a:t>
            </a:r>
            <a:r>
              <a:rPr lang="en-US" sz="2000" i="1" dirty="0" err="1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excelência</a:t>
            </a:r>
            <a:r>
              <a:rPr lang="en-US" sz="2000" i="1" dirty="0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, </a:t>
            </a:r>
            <a:r>
              <a:rPr lang="en-US" sz="2000" i="1" dirty="0" err="1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através</a:t>
            </a:r>
            <a:r>
              <a:rPr lang="en-US" sz="2000" i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 da produção e partilha de conhecimento técnico que </a:t>
            </a:r>
            <a:r>
              <a:rPr lang="en-US" sz="2000" i="1" dirty="0" err="1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ger</a:t>
            </a:r>
            <a:r>
              <a:rPr lang="en-US" sz="2000" i="1" dirty="0" err="1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e</a:t>
            </a:r>
            <a:r>
              <a:rPr lang="en-US" sz="2000" i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 valor real para profissionais, instituições </a:t>
            </a:r>
            <a:r>
              <a:rPr lang="en-US" sz="2000" i="1" dirty="0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e </a:t>
            </a:r>
            <a:r>
              <a:rPr lang="en-US" sz="2000" i="1" dirty="0" err="1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sistema</a:t>
            </a:r>
            <a:r>
              <a:rPr lang="en-US" sz="2000" i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 financeiro."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8E70-C6D1-32D0-8746-1F36A12E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5A3E51-172E-43C7-3515-3BE348EE9953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53E3C5-E705-1BC1-8328-AD6EAC5423A2}"/>
              </a:ext>
            </a:extLst>
          </p:cNvPr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PROPÓSITO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40B4B0-ADE3-258F-AFF7-327E7A2CB48F}"/>
              </a:ext>
            </a:extLst>
          </p:cNvPr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Nossa </a:t>
            </a:r>
            <a:r>
              <a:rPr lang="en-US" sz="2800" dirty="0" err="1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Visão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737614-5353-052D-F8EE-EE2FAC3E37F9}"/>
              </a:ext>
            </a:extLst>
          </p:cNvPr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675629-9224-C702-0EC6-17F40893B331}"/>
              </a:ext>
            </a:extLst>
          </p:cNvPr>
          <p:cNvSpPr/>
          <p:nvPr/>
        </p:nvSpPr>
        <p:spPr>
          <a:xfrm>
            <a:off x="807720" y="1280160"/>
            <a:ext cx="1069848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8A878B-409B-4F60-482E-3ADA1E5F58EF}"/>
              </a:ext>
            </a:extLst>
          </p:cNvPr>
          <p:cNvSpPr/>
          <p:nvPr/>
        </p:nvSpPr>
        <p:spPr>
          <a:xfrm>
            <a:off x="1005840" y="1554480"/>
            <a:ext cx="10149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"</a:t>
            </a:r>
            <a:r>
              <a:rPr lang="pt-PT" sz="2000" i="1" dirty="0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Ser uma plataforma de referência na produção de conhecimento sobre direito, mercado de capitais e governação corporativa, contribuindo para a qualidade das decisões, a evolução regulatória e a consolidação de melhores práticas institucionais</a:t>
            </a:r>
            <a:r>
              <a:rPr lang="en-US" sz="2000" i="1" dirty="0">
                <a:solidFill>
                  <a:srgbClr val="FFFFFF"/>
                </a:solidFill>
                <a:highlight>
                  <a:srgbClr val="00FF00"/>
                </a:highlight>
                <a:latin typeface="Cinzel" pitchFamily="34" charset="0"/>
                <a:ea typeface="Cinzel" pitchFamily="34" charset="-122"/>
                <a:cs typeface="Cinzel" pitchFamily="34" charset="-120"/>
              </a:rPr>
              <a:t>."</a:t>
            </a:r>
            <a:endParaRPr lang="en-US" sz="20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268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PRINCÍPIOS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Os Nossos Valores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5A059"/>
                </a:solidFill>
              </a:rPr>
              <a:t>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RIGOR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pt-PT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Tratamos cada tema com profundidade técnica, base legal sólida e precisão conceptual</a:t>
            </a:r>
            <a:r>
              <a:rPr lang="en-US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5176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5A059"/>
                </a:solidFill>
              </a:rPr>
              <a:t>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INTEGRIDADE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pt-PT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Comunicamos com transparência, independência de pensamento e respeito pelos princípios éticos que sustentam o sistema financeiro</a:t>
            </a:r>
            <a:r>
              <a:rPr lang="en-US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65176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3093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5A059"/>
                </a:solidFill>
              </a:rPr>
              <a:t>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EXCELÊNCIA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pt-PT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Procuramos consistentemente elevar o nível do debate e da prática profissional.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35440" y="1280160"/>
            <a:ext cx="265176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923544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5A059"/>
                </a:solidFill>
              </a:rPr>
              <a:t>➤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2688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IMPACTO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2560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pt-PT" sz="12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Produzimos conhecimento com o objectivo de influenciar decisões, melhorar práticas e fortalecer o sistema financeiro.</a:t>
            </a:r>
            <a:endParaRPr lang="en-US" sz="1200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Áreas de Actuação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512064" y="128016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Direito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38988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455664" y="128016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601968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Mercado de Capitais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512064" y="237744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Governação Corporativa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455664" y="237744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601968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512064" y="347472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658368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Regulação Financeira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58444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6455664" y="347472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601968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Gestão de Risco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512064" y="457200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58368" y="4800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Sustentabilidade Institucional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468172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6455664" y="457200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601968" y="4800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Tomada de Decisão Estratégica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Produzimos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512064" y="128016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Artigos Técnicos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38988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455664" y="128016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601968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Análises Jurídicas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512064" y="237744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Insights de Mercado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455664" y="237744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601968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Conteúdo Educativo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512064" y="347472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658368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Opiniões Especializadas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58444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6455664" y="347472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601968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Comentários Regulatórios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512064" y="457200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58368" y="4800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Tendências de Governação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4681728"/>
            <a:ext cx="54864" cy="6400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6455664" y="4572000"/>
            <a:ext cx="5394960" cy="914400"/>
          </a:xfrm>
          <a:prstGeom prst="rect">
            <a:avLst/>
          </a:prstGeom>
          <a:solidFill>
            <a:srgbClr val="001C3D">
              <a:alpha val="90000"/>
            </a:srgbClr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601968" y="4800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Estudos e Reflexões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Presença Digital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ActivoRegentis posiciona-se como uma plataforma digital de referência no ecossistema lusófono.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1920240"/>
            <a:ext cx="2926080" cy="22860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Facebook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2926080" cy="22860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Instagram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2926080" cy="22860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804672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LinkedIn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Website Oficial:  www.activoregentis.com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Público-Alvo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Levamos conhecimento especializado para moldar o futuro profissional e institucional: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Profissionais do Direito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51760" y="178308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178308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507492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Investidores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1801368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7498080" y="19827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Reguladores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365760" y="3081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Instituições Financeiras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51760" y="288036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2743200" y="3081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288036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120640" y="3081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Académicos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2880360"/>
            <a:ext cx="2194560" cy="91440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7498080" y="3081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Estudantes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Nosso Diferencial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393192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ActivoRegentis não comunica apenas informação.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 err="1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Transformamos</a:t>
            </a: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 </a:t>
            </a:r>
            <a:r>
              <a:rPr lang="en-US" sz="2300" b="1" dirty="0" err="1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Conhecimento</a:t>
            </a: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 em </a:t>
            </a:r>
            <a:r>
              <a:rPr lang="en-US" sz="2300" b="1" dirty="0" err="1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Orientação</a:t>
            </a: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 em </a:t>
            </a:r>
            <a:r>
              <a:rPr lang="en-US" sz="2300" b="1" dirty="0" err="1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Decisão</a:t>
            </a: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Experiência em Valor.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Conhecimento que Orienta Decisões.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Assinatura do Projecto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10973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686800" cy="3840480"/>
          </a:xfrm>
          <a:prstGeom prst="rect">
            <a:avLst/>
          </a:prstGeom>
          <a:solidFill>
            <a:srgbClr val="001C3D">
              <a:alpha val="85000"/>
            </a:srgbClr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ActivoRegentis é mais do que uma marca corporativa.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82219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a materialização de uma </a:t>
            </a:r>
            <a:r>
              <a:rPr lang="en-US" sz="1300" dirty="0" err="1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</a:t>
            </a: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estratégica</a:t>
            </a:r>
            <a:r>
              <a:rPr lang="en-US" sz="1300" dirty="0">
                <a:solidFill>
                  <a:srgbClr val="A0AEC0"/>
                </a:solidFill>
                <a:highlight>
                  <a:srgbClr val="00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robusta, construída ao longo de décadas de </a:t>
            </a:r>
            <a:r>
              <a:rPr lang="en-US" sz="1300" dirty="0" err="1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experiência</a:t>
            </a: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nos mercados e no meio jurídico.</a:t>
            </a:r>
            <a:endParaRPr lang="en-US" sz="1300" dirty="0"/>
          </a:p>
          <a:p>
            <a:pPr marL="0" indent="0" algn="just">
              <a:lnSpc>
                <a:spcPts val="2400"/>
              </a:lnSpc>
              <a:buNone/>
            </a:pPr>
            <a:endParaRPr lang="en-US" sz="1300" dirty="0"/>
          </a:p>
          <a:p>
            <a:pPr marL="0" indent="0" algn="just">
              <a:lnSpc>
                <a:spcPts val="24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 o ponto de fusão ideal onde o conhecimento e a responsabilidade criam impacto sustentável no mercado moderno.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82296"/>
            <a:ext cx="457200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Contribuindo para decisões mais sólidas, instituições mais fortes e mercados mais sustentáveis.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www.activoregentis.com  |  LinkedIn  |  Facebook  |  Instagram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546</Words>
  <Application>Microsoft Office PowerPoint</Application>
  <PresentationFormat>Apresentação no Ecrã (16:9)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7" baseType="lpstr">
      <vt:lpstr>Arial</vt:lpstr>
      <vt:lpstr>Cinzel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 Regina Victor</cp:lastModifiedBy>
  <cp:revision>2</cp:revision>
  <dcterms:created xsi:type="dcterms:W3CDTF">2026-06-26T08:59:11Z</dcterms:created>
  <dcterms:modified xsi:type="dcterms:W3CDTF">2026-06-26T15:50:58Z</dcterms:modified>
</cp:coreProperties>
</file>